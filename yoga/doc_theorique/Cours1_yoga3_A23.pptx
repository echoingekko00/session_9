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0" r:id="rId6"/>
    <p:sldId id="257" r:id="rId7"/>
    <p:sldId id="267" r:id="rId8"/>
    <p:sldId id="265" r:id="rId9"/>
    <p:sldId id="268" r:id="rId10"/>
    <p:sldId id="269" r:id="rId11"/>
    <p:sldId id="261" r:id="rId12"/>
    <p:sldId id="262" r:id="rId13"/>
    <p:sldId id="270" r:id="rId14"/>
    <p:sldId id="258" r:id="rId15"/>
    <p:sldId id="266" r:id="rId1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68F98E34-1756-4530-894F-D7BC3917F06A}">
          <p14:sldIdLst>
            <p14:sldId id="256"/>
            <p14:sldId id="260"/>
            <p14:sldId id="257"/>
            <p14:sldId id="267"/>
            <p14:sldId id="265"/>
            <p14:sldId id="268"/>
            <p14:sldId id="269"/>
            <p14:sldId id="261"/>
            <p14:sldId id="262"/>
            <p14:sldId id="270"/>
            <p14:sldId id="258"/>
            <p14:sldId id="266"/>
          </p14:sldIdLst>
        </p14:section>
        <p14:section name="Section sans titre" id="{51A3A65B-BA33-49A7-A7D2-257081AB6B7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4388A9-E7DC-4290-914B-584E78E91076}" v="2" dt="2023-08-18T19:58:31.2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026" autoAdjust="0"/>
  </p:normalViewPr>
  <p:slideViewPr>
    <p:cSldViewPr>
      <p:cViewPr varScale="1">
        <p:scale>
          <a:sx n="57" d="100"/>
          <a:sy n="57" d="100"/>
        </p:scale>
        <p:origin x="154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elyne DuBois" userId="312898cf-2ad6-4938-a8bf-cb591a88faf2" providerId="ADAL" clId="{BA4388A9-E7DC-4290-914B-584E78E91076}"/>
    <pc:docChg chg="custSel modSld">
      <pc:chgData name="Evelyne DuBois" userId="312898cf-2ad6-4938-a8bf-cb591a88faf2" providerId="ADAL" clId="{BA4388A9-E7DC-4290-914B-584E78E91076}" dt="2023-08-18T19:58:52.722" v="12" actId="255"/>
      <pc:docMkLst>
        <pc:docMk/>
      </pc:docMkLst>
      <pc:sldChg chg="modSp mod">
        <pc:chgData name="Evelyne DuBois" userId="312898cf-2ad6-4938-a8bf-cb591a88faf2" providerId="ADAL" clId="{BA4388A9-E7DC-4290-914B-584E78E91076}" dt="2023-08-18T19:57:28.896" v="9" actId="113"/>
        <pc:sldMkLst>
          <pc:docMk/>
          <pc:sldMk cId="2261141634" sldId="257"/>
        </pc:sldMkLst>
        <pc:spChg chg="mod">
          <ac:chgData name="Evelyne DuBois" userId="312898cf-2ad6-4938-a8bf-cb591a88faf2" providerId="ADAL" clId="{BA4388A9-E7DC-4290-914B-584E78E91076}" dt="2023-08-18T19:57:28.896" v="9" actId="113"/>
          <ac:spMkLst>
            <pc:docMk/>
            <pc:sldMk cId="2261141634" sldId="257"/>
            <ac:spMk id="3" creationId="{00000000-0000-0000-0000-000000000000}"/>
          </ac:spMkLst>
        </pc:spChg>
      </pc:sldChg>
      <pc:sldChg chg="modSp">
        <pc:chgData name="Evelyne DuBois" userId="312898cf-2ad6-4938-a8bf-cb591a88faf2" providerId="ADAL" clId="{BA4388A9-E7DC-4290-914B-584E78E91076}" dt="2023-08-18T19:58:31.276" v="11" actId="115"/>
        <pc:sldMkLst>
          <pc:docMk/>
          <pc:sldMk cId="2114638571" sldId="265"/>
        </pc:sldMkLst>
        <pc:spChg chg="mod">
          <ac:chgData name="Evelyne DuBois" userId="312898cf-2ad6-4938-a8bf-cb591a88faf2" providerId="ADAL" clId="{BA4388A9-E7DC-4290-914B-584E78E91076}" dt="2023-08-18T19:58:31.276" v="11" actId="115"/>
          <ac:spMkLst>
            <pc:docMk/>
            <pc:sldMk cId="2114638571" sldId="265"/>
            <ac:spMk id="3" creationId="{00000000-0000-0000-0000-000000000000}"/>
          </ac:spMkLst>
        </pc:spChg>
      </pc:sldChg>
      <pc:sldChg chg="modSp mod">
        <pc:chgData name="Evelyne DuBois" userId="312898cf-2ad6-4938-a8bf-cb591a88faf2" providerId="ADAL" clId="{BA4388A9-E7DC-4290-914B-584E78E91076}" dt="2023-08-18T19:58:52.722" v="12" actId="255"/>
        <pc:sldMkLst>
          <pc:docMk/>
          <pc:sldMk cId="2036624185" sldId="268"/>
        </pc:sldMkLst>
        <pc:spChg chg="mod">
          <ac:chgData name="Evelyne DuBois" userId="312898cf-2ad6-4938-a8bf-cb591a88faf2" providerId="ADAL" clId="{BA4388A9-E7DC-4290-914B-584E78E91076}" dt="2023-08-18T19:58:52.722" v="12" actId="255"/>
          <ac:spMkLst>
            <pc:docMk/>
            <pc:sldMk cId="2036624185" sldId="268"/>
            <ac:spMk id="6" creationId="{3A964722-55E9-4E81-A41A-327CBBE0106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E312BFB7-819C-4988-BB37-ED0096DF8B74}" type="datetimeFigureOut">
              <a:rPr lang="fr-CA" smtClean="0"/>
              <a:t>2023-08-18</a:t>
            </a:fld>
            <a:endParaRPr lang="fr-CA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B2A6856-ACA7-474A-94C6-68A9C7EC581C}" type="slidenum">
              <a:rPr lang="fr-CA" smtClean="0"/>
              <a:t>‹N°›</a:t>
            </a:fld>
            <a:endParaRPr lang="fr-CA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BFB7-819C-4988-BB37-ED0096DF8B74}" type="datetimeFigureOut">
              <a:rPr lang="fr-CA" smtClean="0"/>
              <a:t>2023-08-18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6856-ACA7-474A-94C6-68A9C7EC581C}" type="slidenum">
              <a:rPr lang="fr-CA" smtClean="0"/>
              <a:t>‹N°›</a:t>
            </a:fld>
            <a:endParaRPr lang="fr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BFB7-819C-4988-BB37-ED0096DF8B74}" type="datetimeFigureOut">
              <a:rPr lang="fr-CA" smtClean="0"/>
              <a:t>2023-08-18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6856-ACA7-474A-94C6-68A9C7EC581C}" type="slidenum">
              <a:rPr lang="fr-CA" smtClean="0"/>
              <a:t>‹N°›</a:t>
            </a:fld>
            <a:endParaRPr lang="fr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BFB7-819C-4988-BB37-ED0096DF8B74}" type="datetimeFigureOut">
              <a:rPr lang="fr-CA" smtClean="0"/>
              <a:t>2023-08-18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6856-ACA7-474A-94C6-68A9C7EC581C}" type="slidenum">
              <a:rPr lang="fr-CA" smtClean="0"/>
              <a:t>‹N°›</a:t>
            </a:fld>
            <a:endParaRPr lang="fr-CA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BFB7-819C-4988-BB37-ED0096DF8B74}" type="datetimeFigureOut">
              <a:rPr lang="fr-CA" smtClean="0"/>
              <a:t>2023-08-18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6856-ACA7-474A-94C6-68A9C7EC581C}" type="slidenum">
              <a:rPr lang="fr-CA" smtClean="0"/>
              <a:t>‹N°›</a:t>
            </a:fld>
            <a:endParaRPr lang="fr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BFB7-819C-4988-BB37-ED0096DF8B74}" type="datetimeFigureOut">
              <a:rPr lang="fr-CA" smtClean="0"/>
              <a:t>2023-08-18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6856-ACA7-474A-94C6-68A9C7EC581C}" type="slidenum">
              <a:rPr lang="fr-CA" smtClean="0"/>
              <a:t>‹N°›</a:t>
            </a:fld>
            <a:endParaRPr lang="fr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BFB7-819C-4988-BB37-ED0096DF8B74}" type="datetimeFigureOut">
              <a:rPr lang="fr-CA" smtClean="0"/>
              <a:t>2023-08-18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6856-ACA7-474A-94C6-68A9C7EC581C}" type="slidenum">
              <a:rPr lang="fr-CA" smtClean="0"/>
              <a:t>‹N°›</a:t>
            </a:fld>
            <a:endParaRPr lang="fr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BFB7-819C-4988-BB37-ED0096DF8B74}" type="datetimeFigureOut">
              <a:rPr lang="fr-CA" smtClean="0"/>
              <a:t>2023-08-18</a:t>
            </a:fld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6856-ACA7-474A-94C6-68A9C7EC581C}" type="slidenum">
              <a:rPr lang="fr-CA" smtClean="0"/>
              <a:t>‹N°›</a:t>
            </a:fld>
            <a:endParaRPr lang="fr-CA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fr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BFB7-819C-4988-BB37-ED0096DF8B74}" type="datetimeFigureOut">
              <a:rPr lang="fr-CA" smtClean="0"/>
              <a:t>2023-08-18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6856-ACA7-474A-94C6-68A9C7EC581C}" type="slidenum">
              <a:rPr lang="fr-CA" smtClean="0"/>
              <a:t>‹N°›</a:t>
            </a:fld>
            <a:endParaRPr lang="fr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BFB7-819C-4988-BB37-ED0096DF8B74}" type="datetimeFigureOut">
              <a:rPr lang="fr-CA" smtClean="0"/>
              <a:t>2023-08-18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6856-ACA7-474A-94C6-68A9C7EC581C}" type="slidenum">
              <a:rPr lang="fr-CA" smtClean="0"/>
              <a:t>‹N°›</a:t>
            </a:fld>
            <a:endParaRPr lang="fr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2BFB7-819C-4988-BB37-ED0096DF8B74}" type="datetimeFigureOut">
              <a:rPr lang="fr-CA" smtClean="0"/>
              <a:t>2023-08-18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A6856-ACA7-474A-94C6-68A9C7EC581C}" type="slidenum">
              <a:rPr lang="fr-CA" smtClean="0"/>
              <a:t>‹N°›</a:t>
            </a:fld>
            <a:endParaRPr lang="fr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E312BFB7-819C-4988-BB37-ED0096DF8B74}" type="datetimeFigureOut">
              <a:rPr lang="fr-CA" smtClean="0"/>
              <a:t>2023-08-18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6B2A6856-ACA7-474A-94C6-68A9C7EC581C}" type="slidenum">
              <a:rPr lang="fr-CA" smtClean="0"/>
              <a:t>‹N°›</a:t>
            </a:fld>
            <a:endParaRPr lang="fr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hyperlink" Target="https://www.google.ca/url?sa=i&amp;rct=j&amp;q=&amp;esrc=s&amp;source=images&amp;cd=&amp;cad=rja&amp;uact=8&amp;ved=0ahUKEwin-KzgquzVAhWs6YMKHQwrClgQjRwIBw&amp;url=https://es.pinterest.com/pin/583708801673420431/&amp;psig=AFQjCNHlBS3UIznk-oXMWreumSsy6AWXCA&amp;ust=1503542581584793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hyperlink" Target="https://www.google.ca/url?sa=i&amp;rct=j&amp;q=&amp;esrc=s&amp;source=images&amp;cd=&amp;cad=rja&amp;uact=8&amp;ved=0ahUKEwjxjbnPq-zVAhXk8YMKHZ9PCmEQjRwIBw&amp;url=https://somuchyoga.com/yoga-quotes/&amp;psig=AFQjCNHlBS3UIznk-oXMWreumSsy6AWXCA&amp;ust=1503542581584793" TargetMode="Externa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google.ca/url?sa=i&amp;rct=j&amp;q=&amp;esrc=s&amp;source=images&amp;cd=&amp;cad=rja&amp;uact=8&amp;ved=0ahUKEwiT9trjrOzVAhWi7IMKHVE3AikQjRwIBw&amp;url=https://www.pinterest.com/pin/3799980912745982/&amp;psig=AFQjCNGdKSpl5a3Zn-qnjcHXt60Co-9VOg&amp;ust=150354306057182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google.ca/url?sa=i&amp;rct=j&amp;q=&amp;esrc=s&amp;source=images&amp;cd=&amp;cad=rja&amp;uact=8&amp;ved=0ahUKEwjR0OKhq-zVAhWBw4MKHVU4CcwQjRwIBw&amp;url=https://www.pinterest.com/washer12/walter-wasser-yoga/&amp;psig=AFQjCNFNbIVpx4gfo7fpi1mJDP7JlDVnEQ&amp;ust=1503542685297683" TargetMode="Externa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://www.google.ca/url?sa=i&amp;rct=j&amp;q=&amp;esrc=s&amp;source=images&amp;cd=&amp;cad=rja&amp;uact=8&amp;ved=0ahUKEwivucuZquzVAhUi54MKHe2hADQQjRwIBw&amp;url=http://www.editions-homme.com/go-yoga-votre-cours-carte/dory-walker/livre/9782761932448&amp;psig=AFQjCNEgNz22VvTzDancSpzOknXzzmwjqg&amp;ust=1503542436001722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://www.google.ca/url?sa=i&amp;rct=j&amp;q=&amp;esrc=s&amp;source=images&amp;cd=&amp;cad=rja&amp;uact=8&amp;ved=0ahUKEwivucuZquzVAhUi54MKHe2hADQQjRwIBw&amp;url=http://www.editions-homme.com/go-yoga-votre-cours-carte/dory-walker/livre/9782761932448&amp;psig=AFQjCNEgNz22VvTzDancSpzOknXzzmwjqg&amp;ust=1503542436001722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hyperlink" Target="https://youtu.be/FN_X-WHcMF4" TargetMode="External"/><Relationship Id="rId2" Type="http://schemas.openxmlformats.org/officeDocument/2006/relationships/hyperlink" Target="https://www.google.ca/url?sa=i&amp;rct=j&amp;q=&amp;esrc=s&amp;source=images&amp;cd=&amp;cad=rja&amp;uact=8&amp;ved=0ahUKEwj45daLruzVAhVD34MKHccGAMYQjRwIBw&amp;url=https://www.fitnext.com/fr/conseils/relaxation/yoga-la-salutation-au-soleil/&amp;psig=AFQjCNG8pchmv7wYKaeKLEjt54GuisjaHw&amp;ust=150354343260493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G2LuwNoC8uY" TargetMode="External"/><Relationship Id="rId5" Type="http://schemas.openxmlformats.org/officeDocument/2006/relationships/hyperlink" Target="https://youtu.be/L4Z7lix6Qao" TargetMode="External"/><Relationship Id="rId4" Type="http://schemas.openxmlformats.org/officeDocument/2006/relationships/hyperlink" Target="https://www.youtube.com/channel/UCyEEqjhf3NeujoC73yUZbKw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8064" y="2636912"/>
            <a:ext cx="2898656" cy="1152128"/>
          </a:xfrm>
        </p:spPr>
        <p:txBody>
          <a:bodyPr>
            <a:normAutofit fontScale="90000"/>
          </a:bodyPr>
          <a:lstStyle/>
          <a:p>
            <a:r>
              <a:rPr lang="fr-CA" b="1" dirty="0"/>
              <a:t>    Yoga </a:t>
            </a:r>
            <a:r>
              <a:rPr lang="fr-CA" sz="2000" b="1" dirty="0"/>
              <a:t>ens.3</a:t>
            </a:r>
            <a:br>
              <a:rPr lang="fr-CA" dirty="0"/>
            </a:br>
            <a:r>
              <a:rPr lang="fr-CA" dirty="0"/>
              <a:t>    </a:t>
            </a:r>
            <a:r>
              <a:rPr lang="fr-CA" sz="2400" dirty="0"/>
              <a:t>109-945-AL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733365" y="4005064"/>
            <a:ext cx="3309803" cy="1676645"/>
          </a:xfrm>
        </p:spPr>
        <p:txBody>
          <a:bodyPr/>
          <a:lstStyle/>
          <a:p>
            <a:r>
              <a:rPr lang="fr-CA" dirty="0"/>
              <a:t>   Cours 1</a:t>
            </a:r>
            <a:br>
              <a:rPr lang="fr-CA" dirty="0"/>
            </a:br>
            <a:r>
              <a:rPr lang="fr-CA" dirty="0"/>
              <a:t>   Présence et remise de la   </a:t>
            </a:r>
          </a:p>
          <a:p>
            <a:r>
              <a:rPr lang="fr-CA" dirty="0"/>
              <a:t>   Fiche Santé.</a:t>
            </a:r>
          </a:p>
        </p:txBody>
      </p:sp>
      <p:pic>
        <p:nvPicPr>
          <p:cNvPr id="2050" name="Picture 2" descr="Image associé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37" y="476672"/>
            <a:ext cx="4762500" cy="595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ésultats de recherche d'images pour « yoga quotes »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260648"/>
            <a:ext cx="4500791" cy="253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43" y="5019262"/>
            <a:ext cx="6464943" cy="1416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6770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889168"/>
          </a:xfrm>
        </p:spPr>
        <p:txBody>
          <a:bodyPr>
            <a:normAutofit/>
          </a:bodyPr>
          <a:lstStyle/>
          <a:p>
            <a:r>
              <a:rPr lang="fr-CA" dirty="0"/>
              <a:t>Plan de la séance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83569" y="2323652"/>
            <a:ext cx="3888432" cy="3985668"/>
          </a:xfrm>
        </p:spPr>
        <p:txBody>
          <a:bodyPr>
            <a:normAutofit fontScale="55000" lnSpcReduction="20000"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fr-CA" sz="4400" dirty="0"/>
              <a:t>Présence et remise du JB (20%)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fr-CA" sz="4400" dirty="0"/>
              <a:t>Théorie sur le yoga et la santé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fr-CA" sz="4400" dirty="0"/>
              <a:t>Présentation du plan de cours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fr-CA" sz="4400" dirty="0"/>
              <a:t>Séance dirigée de yoga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fr-CA" sz="4400" dirty="0"/>
              <a:t>Fiche santé + complétion du JB cours #1 + rencontre avec l’enseignante</a:t>
            </a:r>
          </a:p>
        </p:txBody>
      </p:sp>
      <p:pic>
        <p:nvPicPr>
          <p:cNvPr id="4" name="Picture 4" descr="Résultats de recherche d'images pour « hatha yoga »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3" y="2343801"/>
            <a:ext cx="3672406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037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9552" y="1027664"/>
            <a:ext cx="7528682" cy="1143000"/>
          </a:xfrm>
        </p:spPr>
        <p:txBody>
          <a:bodyPr>
            <a:normAutofit fontScale="90000"/>
          </a:bodyPr>
          <a:lstStyle/>
          <a:p>
            <a:r>
              <a:rPr lang="fr-CA" dirty="0"/>
              <a:t>Ce cours s’adresse à qui?</a:t>
            </a:r>
            <a:br>
              <a:rPr lang="fr-CA" dirty="0"/>
            </a:br>
            <a:r>
              <a:rPr lang="fr-CA" dirty="0"/>
              <a:t>Objectif de ce cours d’ens.3?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43492" y="2323652"/>
            <a:ext cx="7128908" cy="4057676"/>
          </a:xfrm>
        </p:spPr>
        <p:txBody>
          <a:bodyPr>
            <a:normAutofit fontScale="92500" lnSpcReduction="20000"/>
          </a:bodyPr>
          <a:lstStyle/>
          <a:p>
            <a:r>
              <a:rPr lang="fr-CA" dirty="0"/>
              <a:t>Ce cours s’adresse </a:t>
            </a:r>
            <a:r>
              <a:rPr lang="fr-CA" b="1" dirty="0"/>
              <a:t>autant pour un débutant en yoga qu’une personne déjà engagée </a:t>
            </a:r>
            <a:r>
              <a:rPr lang="fr-CA" dirty="0"/>
              <a:t>dans la pratique de cette activité. </a:t>
            </a:r>
          </a:p>
          <a:p>
            <a:r>
              <a:rPr lang="fr-CA" dirty="0"/>
              <a:t>Ce cours d’autonomie en yoga a pour but de développer une prise de conscience de votre corps par:</a:t>
            </a:r>
          </a:p>
          <a:p>
            <a:pPr lvl="1"/>
            <a:r>
              <a:rPr lang="fr-CA" dirty="0"/>
              <a:t> l’apprentissage de </a:t>
            </a:r>
            <a:r>
              <a:rPr lang="fr-CA" b="1" dirty="0"/>
              <a:t>postures (asanas) </a:t>
            </a:r>
            <a:r>
              <a:rPr lang="fr-CA" dirty="0"/>
              <a:t>et d’exercices d’étirement à travers différentes formes de yoga. </a:t>
            </a:r>
          </a:p>
          <a:p>
            <a:pPr lvl="1"/>
            <a:r>
              <a:rPr lang="fr-CA" dirty="0"/>
              <a:t> l’enseignement de certaines </a:t>
            </a:r>
            <a:r>
              <a:rPr lang="fr-CA" b="1" dirty="0"/>
              <a:t>techniques de respiration (pranayama), </a:t>
            </a:r>
            <a:r>
              <a:rPr lang="fr-CA" dirty="0"/>
              <a:t>de </a:t>
            </a:r>
            <a:r>
              <a:rPr lang="fr-CA" b="1" dirty="0"/>
              <a:t>méthodes d’apaisement mental </a:t>
            </a:r>
            <a:r>
              <a:rPr lang="fr-CA" dirty="0"/>
              <a:t>et de </a:t>
            </a:r>
            <a:r>
              <a:rPr lang="fr-CA" b="1" dirty="0"/>
              <a:t>méditation (</a:t>
            </a:r>
            <a:r>
              <a:rPr lang="fr-CA" b="1" dirty="0" err="1"/>
              <a:t>dhyana</a:t>
            </a:r>
            <a:r>
              <a:rPr lang="fr-CA" b="1" dirty="0"/>
              <a:t>)</a:t>
            </a:r>
            <a:r>
              <a:rPr lang="fr-CA" dirty="0"/>
              <a:t>.</a:t>
            </a:r>
          </a:p>
          <a:p>
            <a:pPr lvl="1"/>
            <a:r>
              <a:rPr lang="fr-CA" dirty="0"/>
              <a:t> la prise en charge harmonieuse de </a:t>
            </a:r>
            <a:r>
              <a:rPr lang="fr-CA" b="1" dirty="0"/>
              <a:t>votre propre santé globale.</a:t>
            </a:r>
          </a:p>
        </p:txBody>
      </p:sp>
      <p:pic>
        <p:nvPicPr>
          <p:cNvPr id="4098" name="Picture 2" descr="Image associé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100000" l="0" r="996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077" y="-99392"/>
            <a:ext cx="2304256" cy="2304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1141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8E440A8B-DBB1-A549-737B-053229ADC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027664"/>
            <a:ext cx="7632848" cy="1143000"/>
          </a:xfrm>
        </p:spPr>
        <p:txBody>
          <a:bodyPr>
            <a:noAutofit/>
          </a:bodyPr>
          <a:lstStyle/>
          <a:p>
            <a:r>
              <a:rPr lang="fr-CA" sz="2400" dirty="0"/>
              <a:t>L’ensemble des expérimentations favoriseront une </a:t>
            </a:r>
            <a:r>
              <a:rPr lang="fr-CA" sz="2400" b="1" dirty="0"/>
              <a:t>harmonisation générale de votre corps </a:t>
            </a:r>
            <a:r>
              <a:rPr lang="fr-CA" sz="2400" dirty="0"/>
              <a:t>alliant:</a:t>
            </a:r>
            <a:endParaRPr lang="en-US" sz="24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516E135-630E-4BB6-B019-0CC53F8ED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313431"/>
            <a:ext cx="3419856" cy="3419856"/>
          </a:xfrm>
          <a:prstGeom prst="rect">
            <a:avLst/>
          </a:prstGeom>
          <a:noFill/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87C3C1-2D53-4584-9384-754685A8A1C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23928" y="2780927"/>
            <a:ext cx="4464496" cy="302551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fr-CA" dirty="0"/>
              <a:t>souplesse et tonus </a:t>
            </a:r>
          </a:p>
          <a:p>
            <a:pPr>
              <a:lnSpc>
                <a:spcPct val="90000"/>
              </a:lnSpc>
            </a:pPr>
            <a:r>
              <a:rPr lang="fr-CA" dirty="0"/>
              <a:t>force et équilibre</a:t>
            </a:r>
          </a:p>
          <a:p>
            <a:pPr>
              <a:lnSpc>
                <a:spcPct val="90000"/>
              </a:lnSpc>
            </a:pPr>
            <a:r>
              <a:rPr lang="fr-CA" dirty="0"/>
              <a:t>fluidité, alignement corporel et amplitude du mouvement</a:t>
            </a:r>
          </a:p>
          <a:p>
            <a:pPr>
              <a:lnSpc>
                <a:spcPct val="90000"/>
              </a:lnSpc>
            </a:pPr>
            <a:r>
              <a:rPr lang="fr-CA" dirty="0"/>
              <a:t>détente et concentration.</a:t>
            </a:r>
          </a:p>
        </p:txBody>
      </p:sp>
    </p:spTree>
    <p:extLst>
      <p:ext uri="{BB962C8B-B14F-4D97-AF65-F5344CB8AC3E}">
        <p14:creationId xmlns:p14="http://schemas.microsoft.com/office/powerpoint/2010/main" val="3509335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889168"/>
          </a:xfrm>
        </p:spPr>
        <p:txBody>
          <a:bodyPr>
            <a:normAutofit/>
          </a:bodyPr>
          <a:lstStyle/>
          <a:p>
            <a:r>
              <a:rPr lang="fr-CA" b="1" dirty="0"/>
              <a:t>Yoga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43490" y="2132856"/>
            <a:ext cx="7272926" cy="4248471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fr-CA" sz="2800" b="1" dirty="0">
                <a:solidFill>
                  <a:srgbClr val="92D050"/>
                </a:solidFill>
              </a:rPr>
              <a:t>Le terme yoga </a:t>
            </a:r>
            <a:br>
              <a:rPr lang="fr-CA" sz="2800" b="1" dirty="0">
                <a:solidFill>
                  <a:srgbClr val="92D050"/>
                </a:solidFill>
              </a:rPr>
            </a:br>
            <a:r>
              <a:rPr lang="fr-CA" sz="2800" b="1" dirty="0">
                <a:solidFill>
                  <a:srgbClr val="92D050"/>
                </a:solidFill>
              </a:rPr>
              <a:t>vous fait penser à quel autre mot?</a:t>
            </a:r>
          </a:p>
          <a:p>
            <a:pPr marL="68580" indent="0">
              <a:buNone/>
            </a:pPr>
            <a:endParaRPr lang="fr-CA" dirty="0"/>
          </a:p>
          <a:p>
            <a:pPr marL="68580" indent="0">
              <a:buNone/>
            </a:pPr>
            <a:r>
              <a:rPr lang="fr-CA" dirty="0"/>
              <a:t>Ce mot vient du </a:t>
            </a:r>
            <a:r>
              <a:rPr lang="fr-CA" i="1" dirty="0"/>
              <a:t>sanscrit</a:t>
            </a:r>
            <a:r>
              <a:rPr lang="fr-CA" dirty="0"/>
              <a:t> </a:t>
            </a:r>
            <a:r>
              <a:rPr lang="fr-CA" i="1" dirty="0"/>
              <a:t>(langue ancienne sacrée) </a:t>
            </a:r>
            <a:r>
              <a:rPr lang="fr-CA" dirty="0"/>
              <a:t>qui veut dire </a:t>
            </a:r>
            <a:r>
              <a:rPr lang="fr-CA" b="1" dirty="0"/>
              <a:t>unir</a:t>
            </a:r>
            <a:r>
              <a:rPr lang="fr-CA" dirty="0"/>
              <a:t> </a:t>
            </a:r>
            <a:r>
              <a:rPr lang="fr-CA" b="1" dirty="0"/>
              <a:t>le corps et l’esprit</a:t>
            </a:r>
            <a:r>
              <a:rPr lang="fr-CA" dirty="0"/>
              <a:t>, favorisant ainsi une </a:t>
            </a:r>
            <a:r>
              <a:rPr lang="fr-CA" u="sng" dirty="0"/>
              <a:t>interaction harmonieuse</a:t>
            </a:r>
            <a:r>
              <a:rPr lang="fr-CA" dirty="0"/>
              <a:t>.</a:t>
            </a:r>
            <a:endParaRPr lang="fr-CA" b="1" dirty="0"/>
          </a:p>
          <a:p>
            <a:pPr marL="68580" indent="0">
              <a:buNone/>
            </a:pPr>
            <a:endParaRPr lang="fr-CA" b="1" dirty="0"/>
          </a:p>
          <a:p>
            <a:pPr marL="68580" indent="0">
              <a:buNone/>
            </a:pPr>
            <a:r>
              <a:rPr lang="fr-CA" b="1" dirty="0"/>
              <a:t>Le terme yoga fait aussi référence à l’union entre l’individu et l’univers.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408" y="692696"/>
            <a:ext cx="3410100" cy="1917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463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464FE92-F236-4248-A993-7DF7E832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817160"/>
          </a:xfrm>
        </p:spPr>
        <p:txBody>
          <a:bodyPr/>
          <a:lstStyle/>
          <a:p>
            <a:r>
              <a:rPr lang="fr-CA" b="1" dirty="0"/>
              <a:t>Le yoga et la santé globale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A964722-55E9-4E81-A41A-327CBBE01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4365104"/>
            <a:ext cx="7344816" cy="1467525"/>
          </a:xfrm>
        </p:spPr>
        <p:txBody>
          <a:bodyPr>
            <a:normAutofit/>
          </a:bodyPr>
          <a:lstStyle/>
          <a:p>
            <a:r>
              <a:rPr lang="fr-CA" sz="3600" dirty="0"/>
              <a:t>Quelles sont les 6 dimensions de la santé?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7CD9A4D-3269-49CA-84E8-67CE92089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2094777"/>
            <a:ext cx="3414056" cy="191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624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464FE92-F236-4248-A993-7DF7E832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628" y="616791"/>
            <a:ext cx="7024744" cy="817160"/>
          </a:xfrm>
        </p:spPr>
        <p:txBody>
          <a:bodyPr/>
          <a:lstStyle/>
          <a:p>
            <a:r>
              <a:rPr lang="fr-CA" b="1" dirty="0"/>
              <a:t>Le yoga et la santé globale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A964722-55E9-4E81-A41A-327CBBE01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1543109"/>
            <a:ext cx="7344816" cy="3771781"/>
          </a:xfrm>
        </p:spPr>
        <p:txBody>
          <a:bodyPr/>
          <a:lstStyle/>
          <a:p>
            <a:r>
              <a:rPr lang="fr-CA" dirty="0"/>
              <a:t>Voici les bienfaits engendrés sur la santé par la pratique régulière du yoga:</a:t>
            </a:r>
          </a:p>
          <a:p>
            <a:pPr marL="68580" indent="0">
              <a:buNone/>
            </a:pPr>
            <a:endParaRPr lang="fr-CA" dirty="0"/>
          </a:p>
        </p:txBody>
      </p:sp>
      <p:graphicFrame>
        <p:nvGraphicFramePr>
          <p:cNvPr id="10" name="Tableau 10">
            <a:extLst>
              <a:ext uri="{FF2B5EF4-FFF2-40B4-BE49-F238E27FC236}">
                <a16:creationId xmlns:a16="http://schemas.microsoft.com/office/drawing/2014/main" id="{E7AFE36C-AD76-4350-AD00-B528763B0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001242"/>
              </p:ext>
            </p:extLst>
          </p:nvPr>
        </p:nvGraphicFramePr>
        <p:xfrm>
          <a:off x="287524" y="2564904"/>
          <a:ext cx="8676964" cy="3247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53165072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09493192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3634887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035839784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189362489"/>
                    </a:ext>
                  </a:extLst>
                </a:gridCol>
                <a:gridCol w="1548172">
                  <a:extLst>
                    <a:ext uri="{9D8B030D-6E8A-4147-A177-3AD203B41FA5}">
                      <a16:colId xmlns:a16="http://schemas.microsoft.com/office/drawing/2014/main" val="834568980"/>
                    </a:ext>
                  </a:extLst>
                </a:gridCol>
              </a:tblGrid>
              <a:tr h="660061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Physique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Mentale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Sociale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 err="1"/>
                        <a:t>Émotion-nelle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/>
                        <a:t>Spirituelle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600" dirty="0" err="1"/>
                        <a:t>Environ-nementale</a:t>
                      </a:r>
                      <a:endParaRPr lang="fr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354773"/>
                  </a:ext>
                </a:extLst>
              </a:tr>
              <a:tr h="852107">
                <a:tc>
                  <a:txBody>
                    <a:bodyPr/>
                    <a:lstStyle/>
                    <a:p>
                      <a:r>
                        <a:rPr lang="fr-CA" sz="1400" dirty="0"/>
                        <a:t>Flexibilité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/>
                        <a:t>Capacités intellectuelles</a:t>
                      </a:r>
                      <a:endParaRPr lang="fr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Relations personnelles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/>
                        <a:t>Gestion des émotions</a:t>
                      </a:r>
                      <a:endParaRPr lang="fr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Conscience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Conscience </a:t>
                      </a:r>
                      <a:br>
                        <a:rPr lang="fr-CA" sz="1400" dirty="0"/>
                      </a:br>
                      <a:r>
                        <a:rPr lang="fr-CA" sz="1400" dirty="0"/>
                        <a:t>de son environnement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099754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r>
                        <a:rPr lang="fr-CA" sz="1400"/>
                        <a:t>Endurance musculaire</a:t>
                      </a:r>
                      <a:endParaRPr lang="fr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/>
                        <a:t>Concentration</a:t>
                      </a:r>
                      <a:endParaRPr lang="fr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Ouvertures aux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/>
                        <a:t>Acceptation des émotions</a:t>
                      </a:r>
                      <a:endParaRPr lang="fr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/>
                        <a:t>Présence</a:t>
                      </a:r>
                      <a:endParaRPr lang="fr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Respect de la nature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555986"/>
                  </a:ext>
                </a:extLst>
              </a:tr>
              <a:tr h="942945">
                <a:tc>
                  <a:txBody>
                    <a:bodyPr/>
                    <a:lstStyle/>
                    <a:p>
                      <a:r>
                        <a:rPr lang="fr-CA" sz="1400" dirty="0"/>
                        <a:t>Équilibre / proprioception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Réflexion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 err="1"/>
                        <a:t>Communica-tion</a:t>
                      </a:r>
                      <a:endParaRPr lang="fr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/>
                        <a:t>Observation des émotions</a:t>
                      </a:r>
                      <a:endParaRPr lang="fr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/>
                        <a:t>Méditation</a:t>
                      </a:r>
                      <a:endParaRPr lang="fr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 dirty="0"/>
                        <a:t>Implication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911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533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745152"/>
          </a:xfrm>
        </p:spPr>
        <p:txBody>
          <a:bodyPr>
            <a:normAutofit/>
          </a:bodyPr>
          <a:lstStyle/>
          <a:p>
            <a:r>
              <a:rPr lang="fr-CA" b="1" dirty="0"/>
              <a:t>Le yoga et la santé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83567" y="2323652"/>
            <a:ext cx="7902723" cy="4057676"/>
          </a:xfrm>
        </p:spPr>
        <p:txBody>
          <a:bodyPr>
            <a:normAutofit/>
          </a:bodyPr>
          <a:lstStyle/>
          <a:p>
            <a:r>
              <a:rPr lang="fr-CA" dirty="0"/>
              <a:t>« Le yoga est bien plus que le </a:t>
            </a:r>
            <a:r>
              <a:rPr lang="fr-CA" b="1" dirty="0"/>
              <a:t>pranayama</a:t>
            </a:r>
            <a:r>
              <a:rPr lang="fr-CA" dirty="0"/>
              <a:t> et les </a:t>
            </a:r>
            <a:r>
              <a:rPr lang="fr-CA" b="1" dirty="0"/>
              <a:t>asanas</a:t>
            </a:r>
            <a:r>
              <a:rPr lang="fr-CA" dirty="0"/>
              <a:t>, car ses pratiquent ne se concentrent pas uniquement sur le corps physique, mais aussi sur les énergies subtiles… Le yoga est donc constitué </a:t>
            </a:r>
            <a:r>
              <a:rPr lang="fr-CA" u="sng" dirty="0"/>
              <a:t>d’exercices physiques</a:t>
            </a:r>
            <a:r>
              <a:rPr lang="fr-CA" dirty="0"/>
              <a:t>, la </a:t>
            </a:r>
            <a:r>
              <a:rPr lang="fr-CA" u="sng" dirty="0"/>
              <a:t>respiration</a:t>
            </a:r>
            <a:r>
              <a:rPr lang="fr-CA" dirty="0"/>
              <a:t>, la r</a:t>
            </a:r>
            <a:r>
              <a:rPr lang="fr-CA" u="sng" dirty="0"/>
              <a:t>elaxation</a:t>
            </a:r>
            <a:r>
              <a:rPr lang="fr-CA" dirty="0"/>
              <a:t>, une </a:t>
            </a:r>
            <a:r>
              <a:rPr lang="fr-CA" u="sng" dirty="0"/>
              <a:t>alimentation saine et complète</a:t>
            </a:r>
            <a:r>
              <a:rPr lang="fr-CA" dirty="0"/>
              <a:t>, de même que la </a:t>
            </a:r>
            <a:r>
              <a:rPr lang="fr-CA" u="sng" dirty="0"/>
              <a:t>pensée positive et la méditation </a:t>
            </a:r>
            <a:r>
              <a:rPr lang="fr-CA" dirty="0"/>
              <a:t>en font aussi partie. » </a:t>
            </a:r>
          </a:p>
          <a:p>
            <a:pPr marL="68580" indent="0">
              <a:buNone/>
            </a:pPr>
            <a:r>
              <a:rPr lang="fr-CA" b="1" dirty="0"/>
              <a:t>= Permet de découvrir notre lien avec la Terre, l’Univers et les autres.</a:t>
            </a:r>
          </a:p>
        </p:txBody>
      </p:sp>
      <p:pic>
        <p:nvPicPr>
          <p:cNvPr id="1026" name="Picture 2" descr="Résultats de recherche d'images pour « go yoga »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53213"/>
            <a:ext cx="1782043" cy="2289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076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817160"/>
          </a:xfrm>
        </p:spPr>
        <p:txBody>
          <a:bodyPr>
            <a:normAutofit/>
          </a:bodyPr>
          <a:lstStyle/>
          <a:p>
            <a:r>
              <a:rPr lang="fr-CA" dirty="0"/>
              <a:t>Le yoga et la santé </a:t>
            </a:r>
            <a:r>
              <a:rPr lang="fr-CA" sz="1600" dirty="0"/>
              <a:t>(suite)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83568" y="2323652"/>
            <a:ext cx="7776864" cy="350897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fr-CA" sz="2800" dirty="0"/>
              <a:t>« Le yoga nous incite également à cultiver la </a:t>
            </a:r>
            <a:r>
              <a:rPr lang="fr-CA" sz="2800" b="1" dirty="0"/>
              <a:t>non-violence</a:t>
            </a:r>
            <a:r>
              <a:rPr lang="fr-CA" sz="2800" dirty="0"/>
              <a:t>, l’</a:t>
            </a:r>
            <a:r>
              <a:rPr lang="fr-CA" sz="2800" b="1" dirty="0"/>
              <a:t>intégrité</a:t>
            </a:r>
            <a:r>
              <a:rPr lang="fr-CA" sz="2800" dirty="0"/>
              <a:t>, la </a:t>
            </a:r>
            <a:r>
              <a:rPr lang="fr-CA" sz="2800" b="1" dirty="0"/>
              <a:t>générosité</a:t>
            </a:r>
            <a:r>
              <a:rPr lang="fr-CA" sz="2800" dirty="0"/>
              <a:t>, la </a:t>
            </a:r>
            <a:r>
              <a:rPr lang="fr-CA" sz="2800" b="1" dirty="0"/>
              <a:t>bonté</a:t>
            </a:r>
            <a:r>
              <a:rPr lang="fr-CA" sz="2800" dirty="0"/>
              <a:t>, la </a:t>
            </a:r>
            <a:r>
              <a:rPr lang="fr-CA" sz="2800" b="1" dirty="0"/>
              <a:t>compassion</a:t>
            </a:r>
            <a:r>
              <a:rPr lang="fr-CA" sz="2800" dirty="0"/>
              <a:t> et le </a:t>
            </a:r>
            <a:r>
              <a:rPr lang="fr-CA" sz="2800" b="1" dirty="0"/>
              <a:t>contentement</a:t>
            </a:r>
            <a:r>
              <a:rPr lang="fr-CA" sz="2800" dirty="0"/>
              <a:t>. »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CA" sz="2800" dirty="0"/>
              <a:t>« Une pratique régulière: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CA" sz="2800" dirty="0"/>
              <a:t> </a:t>
            </a:r>
            <a:r>
              <a:rPr lang="fr-CA" sz="2800" b="1" dirty="0"/>
              <a:t>augmente</a:t>
            </a:r>
            <a:r>
              <a:rPr lang="fr-CA" sz="2800" dirty="0"/>
              <a:t> notre niveau d’</a:t>
            </a:r>
            <a:r>
              <a:rPr lang="fr-CA" sz="2800" b="1" dirty="0"/>
              <a:t>énergie</a:t>
            </a:r>
            <a:r>
              <a:rPr lang="fr-CA" sz="2800" dirty="0"/>
              <a:t>,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CA" sz="2800" dirty="0"/>
              <a:t>favorise un </a:t>
            </a:r>
            <a:r>
              <a:rPr lang="fr-CA" sz="2800" b="1" dirty="0"/>
              <a:t>état d’esprit équilibré</a:t>
            </a:r>
            <a:r>
              <a:rPr lang="fr-CA" sz="2800" dirty="0"/>
              <a:t>,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CA" sz="2800" dirty="0"/>
              <a:t>Et </a:t>
            </a:r>
            <a:r>
              <a:rPr lang="fr-CA" sz="2800" b="1" dirty="0"/>
              <a:t>diminue</a:t>
            </a:r>
            <a:r>
              <a:rPr lang="fr-CA" sz="2800" dirty="0"/>
              <a:t> la </a:t>
            </a:r>
            <a:r>
              <a:rPr lang="fr-CA" sz="2800" b="1" dirty="0"/>
              <a:t>fatigue</a:t>
            </a:r>
            <a:r>
              <a:rPr lang="fr-CA" sz="2800" dirty="0"/>
              <a:t> ainsi que le </a:t>
            </a:r>
            <a:r>
              <a:rPr lang="fr-CA" sz="2800" b="1" dirty="0"/>
              <a:t>stress</a:t>
            </a:r>
            <a:r>
              <a:rPr lang="fr-CA" sz="2800" dirty="0"/>
              <a:t>. »</a:t>
            </a:r>
          </a:p>
          <a:p>
            <a:pPr marL="68580" indent="0">
              <a:buNone/>
            </a:pPr>
            <a:endParaRPr lang="fr-CA" dirty="0"/>
          </a:p>
        </p:txBody>
      </p:sp>
      <p:pic>
        <p:nvPicPr>
          <p:cNvPr id="4" name="Picture 2" descr="Résultats de recherche d'images pour « go yoga »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44095"/>
            <a:ext cx="1782043" cy="2289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8187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CA" b="1" dirty="0"/>
              <a:t>Présentation du</a:t>
            </a:r>
            <a:br>
              <a:rPr lang="fr-CA" b="1" dirty="0"/>
            </a:br>
            <a:r>
              <a:rPr lang="fr-CA" b="1" dirty="0"/>
              <a:t>Plan de cours, JB et Volume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1674" y="2420888"/>
            <a:ext cx="3508375" cy="350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649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Résultats de recherche d'images pour « salutation au soleil debout »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3676749"/>
            <a:ext cx="4968552" cy="2849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71600" y="507461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fr-CA" dirty="0"/>
              <a:t>Activation et </a:t>
            </a:r>
            <a:br>
              <a:rPr lang="fr-CA" dirty="0"/>
            </a:br>
            <a:r>
              <a:rPr lang="fr-CA" dirty="0"/>
              <a:t>introduction au pranayama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99592" y="1619904"/>
            <a:ext cx="7416824" cy="3825320"/>
          </a:xfrm>
        </p:spPr>
        <p:txBody>
          <a:bodyPr>
            <a:normAutofit fontScale="92500" lnSpcReduction="10000"/>
          </a:bodyPr>
          <a:lstStyle/>
          <a:p>
            <a:pPr marL="68580" indent="0">
              <a:buNone/>
            </a:pPr>
            <a:r>
              <a:rPr lang="fr-CA" dirty="0"/>
              <a:t>Intention : Avoir une respiration un peu plus douce, longue et profonde. Découvrir ou perfectionner la Salutation au soleil A (Surya </a:t>
            </a:r>
            <a:r>
              <a:rPr lang="fr-CA" dirty="0" err="1"/>
              <a:t>Namaskar</a:t>
            </a:r>
            <a:r>
              <a:rPr lang="fr-CA" dirty="0"/>
              <a:t> A)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u="sng" dirty="0" err="1">
                <a:hlinkClick r:id="rId4"/>
              </a:rPr>
              <a:t>YogiApproved</a:t>
            </a:r>
            <a:r>
              <a:rPr lang="en-US" dirty="0"/>
              <a:t> </a:t>
            </a:r>
            <a:r>
              <a:rPr lang="en-US" u="sng" dirty="0">
                <a:hlinkClick r:id="rId5"/>
              </a:rPr>
              <a:t>https://youtu.be/L4Z7lix6Qao</a:t>
            </a:r>
            <a:r>
              <a:rPr lang="en-US" dirty="0"/>
              <a:t> </a:t>
            </a:r>
          </a:p>
          <a:p>
            <a:pPr marL="68580" indent="0">
              <a:buNone/>
            </a:pPr>
            <a:r>
              <a:rPr lang="fr-CA" dirty="0"/>
              <a:t>Accompagnement via YogiApproved.com de </a:t>
            </a:r>
            <a:r>
              <a:rPr lang="en-US" dirty="0"/>
              <a:t>13 minutes 32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fr-CA" u="sng" dirty="0">
                <a:hlinkClick r:id="rId6"/>
              </a:rPr>
              <a:t>https://youtu.be/G2LuwNoC8uY</a:t>
            </a:r>
            <a:endParaRPr lang="fr-CA" dirty="0"/>
          </a:p>
          <a:p>
            <a:pPr marL="68580" indent="0">
              <a:buNone/>
            </a:pPr>
            <a:r>
              <a:rPr lang="fr-CA" dirty="0"/>
              <a:t>Court flow de 8 minutes avec Evelyne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fr-CA" u="sng" dirty="0">
                <a:hlinkClick r:id="rId7"/>
              </a:rPr>
              <a:t>https://youtu.be/FN_X-WHcMF4</a:t>
            </a:r>
            <a:r>
              <a:rPr lang="fr-CA" dirty="0"/>
              <a:t>  </a:t>
            </a:r>
          </a:p>
          <a:p>
            <a:pPr marL="68580" indent="0">
              <a:buNone/>
            </a:pPr>
            <a:r>
              <a:rPr lang="fr-CA" dirty="0" err="1"/>
              <a:t>MadFit</a:t>
            </a:r>
            <a:r>
              <a:rPr lang="fr-CA" dirty="0"/>
              <a:t>: séance de flexibilité de 20 minutes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808818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02A529-91FF-46F9-A135-55F2E008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129" y="836712"/>
            <a:ext cx="7024744" cy="745152"/>
          </a:xfrm>
        </p:spPr>
        <p:txBody>
          <a:bodyPr>
            <a:normAutofit fontScale="90000"/>
          </a:bodyPr>
          <a:lstStyle/>
          <a:p>
            <a:r>
              <a:rPr lang="fr-CA" dirty="0"/>
              <a:t>Compléter la Fiche de Santé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9C6566-5491-445F-8EFC-9F8E220B9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B548E9-0A90-493F-BD80-2C131C25751F}"/>
              </a:ext>
            </a:extLst>
          </p:cNvPr>
          <p:cNvSpPr/>
          <p:nvPr/>
        </p:nvSpPr>
        <p:spPr>
          <a:xfrm>
            <a:off x="755576" y="1581864"/>
            <a:ext cx="777686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fr-CA" sz="2400" dirty="0">
                <a:solidFill>
                  <a:schemeClr val="accent3"/>
                </a:solidFill>
              </a:rPr>
              <a:t>Remettre la Fiche de Santé dans l’affectation du devoir sur Teams d’ici la fin de la journée</a:t>
            </a: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endParaRPr lang="fr-CA" sz="2400" dirty="0">
              <a:solidFill>
                <a:schemeClr val="accent3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fr-CA" sz="2400" dirty="0">
                <a:solidFill>
                  <a:schemeClr val="accent3"/>
                </a:solidFill>
              </a:rPr>
              <a:t>Rencontre individuelle avec les étudiants(es) qui ont répondu OUI à l’une des question de la FS</a:t>
            </a:r>
          </a:p>
          <a:p>
            <a:pPr>
              <a:defRPr/>
            </a:pPr>
            <a:endParaRPr lang="fr-CA" sz="2400" dirty="0">
              <a:solidFill>
                <a:schemeClr val="accent3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fr-CA" sz="2400" dirty="0">
                <a:solidFill>
                  <a:schemeClr val="accent3"/>
                </a:solidFill>
              </a:rPr>
              <a:t>Devoir: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fr-CA" sz="2400" dirty="0">
                <a:solidFill>
                  <a:schemeClr val="accent3"/>
                </a:solidFill>
              </a:rPr>
              <a:t>Pratique personnelle de yoga et de flexibilité via des vidéos dirigés disponibles sur LÉA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fr-CA" sz="2400" dirty="0">
                <a:solidFill>
                  <a:schemeClr val="accent3"/>
                </a:solidFill>
              </a:rPr>
              <a:t>Achat du manuel de référence et d’un tapis de yoga</a:t>
            </a:r>
          </a:p>
          <a:p>
            <a:pPr marL="742950" lvl="1" indent="-285750">
              <a:buFont typeface="Wingdings" panose="05000000000000000000" pitchFamily="2" charset="2"/>
              <a:buChar char="Ø"/>
              <a:defRPr/>
            </a:pPr>
            <a:r>
              <a:rPr lang="fr-CA" sz="2400" dirty="0">
                <a:solidFill>
                  <a:schemeClr val="accent3"/>
                </a:solidFill>
              </a:rPr>
              <a:t>Lecture à réaliser sur LÉA et Chapitre 1</a:t>
            </a:r>
          </a:p>
        </p:txBody>
      </p:sp>
    </p:spTree>
    <p:extLst>
      <p:ext uri="{BB962C8B-B14F-4D97-AF65-F5344CB8AC3E}">
        <p14:creationId xmlns:p14="http://schemas.microsoft.com/office/powerpoint/2010/main" val="9154996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8CF347FB7AF74A9E9480587D774C94" ma:contentTypeVersion="14" ma:contentTypeDescription="Crée un document." ma:contentTypeScope="" ma:versionID="95484d024975b98d3c5898c0ec33b935">
  <xsd:schema xmlns:xsd="http://www.w3.org/2001/XMLSchema" xmlns:xs="http://www.w3.org/2001/XMLSchema" xmlns:p="http://schemas.microsoft.com/office/2006/metadata/properties" xmlns:ns3="f6db3e8c-ab33-4dc7-8654-b0c35e87f23a" xmlns:ns4="e4d811f8-91bd-446b-b8ee-954d1c394a7e" targetNamespace="http://schemas.microsoft.com/office/2006/metadata/properties" ma:root="true" ma:fieldsID="6500d7c2b14a1390a2d93088bbece0bc" ns3:_="" ns4:_="">
    <xsd:import namespace="f6db3e8c-ab33-4dc7-8654-b0c35e87f23a"/>
    <xsd:import namespace="e4d811f8-91bd-446b-b8ee-954d1c394a7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db3e8c-ab33-4dc7-8654-b0c35e87f23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d811f8-91bd-446b-b8ee-954d1c394a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3A52953-15BA-4C93-BAC1-1BCD12081E6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3A4FB6-4B5F-4223-BAC1-EC4DC45521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db3e8c-ab33-4dc7-8654-b0c35e87f23a"/>
    <ds:schemaRef ds:uri="e4d811f8-91bd-446b-b8ee-954d1c394a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D02906-58DA-461D-986A-F8A125CA1D7C}">
  <ds:schemaRefs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elements/1.1/"/>
    <ds:schemaRef ds:uri="f6db3e8c-ab33-4dc7-8654-b0c35e87f23a"/>
    <ds:schemaRef ds:uri="http://schemas.openxmlformats.org/package/2006/metadata/core-properties"/>
    <ds:schemaRef ds:uri="e4d811f8-91bd-446b-b8ee-954d1c394a7e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506</TotalTime>
  <Words>641</Words>
  <Application>Microsoft Office PowerPoint</Application>
  <PresentationFormat>Affichage à l'écran (4:3)</PresentationFormat>
  <Paragraphs>81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Century Gothic</vt:lpstr>
      <vt:lpstr>Courier New</vt:lpstr>
      <vt:lpstr>Wingdings</vt:lpstr>
      <vt:lpstr>Wingdings 2</vt:lpstr>
      <vt:lpstr>Austin</vt:lpstr>
      <vt:lpstr>    Yoga ens.3     109-945-AL</vt:lpstr>
      <vt:lpstr>Plan de la séance</vt:lpstr>
      <vt:lpstr>Ce cours s’adresse à qui? Objectif de ce cours d’ens.3?</vt:lpstr>
      <vt:lpstr>L’ensemble des expérimentations favoriseront une harmonisation générale de votre corps alliant:</vt:lpstr>
      <vt:lpstr>Yoga</vt:lpstr>
      <vt:lpstr>Le yoga et la santé globale</vt:lpstr>
      <vt:lpstr>Le yoga et la santé globale</vt:lpstr>
      <vt:lpstr>Le yoga et la santé</vt:lpstr>
      <vt:lpstr>Le yoga et la santé (suite)</vt:lpstr>
      <vt:lpstr>Présentation du Plan de cours, JB et Volume</vt:lpstr>
      <vt:lpstr>Activation et  introduction au pranayama</vt:lpstr>
      <vt:lpstr>Compléter la Fiche de Santé</vt:lpstr>
    </vt:vector>
  </TitlesOfParts>
  <Company>Cégep de Saint-Laurent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Yoga 109-755</dc:title>
  <dc:creator>DRT</dc:creator>
  <cp:lastModifiedBy>Evelyne DuBois</cp:lastModifiedBy>
  <cp:revision>44</cp:revision>
  <dcterms:created xsi:type="dcterms:W3CDTF">2017-08-18T15:50:02Z</dcterms:created>
  <dcterms:modified xsi:type="dcterms:W3CDTF">2023-08-18T19:59:03Z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0x010100CE8CF347FB7AF74A9E9480587D774C94</vt:lpwstr>
  </property>
</Properties>
</file>